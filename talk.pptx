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I'm Gijs Molenaar, a software engineer at Spotify. Today I want to share my 30-year journey in tech — from a curious teenager in the Netherlands to working at one of the world's biggest music platforms. This is an honest story about persistence, curiosity, and a lot of luck.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at the beginning. My parents had a record store. Music was the soundtrack of my childhood — literally. Stacks of vinyl, walls of CDs. This is important because the story comes full circle later. Keep the record store in mind.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14, I was volunteering at a local TV station. I discovered that their ISP's Windows NT systems didn't survive a 'ping of death.' I was just a curious kid playing with security tools — scripts I found online and barely understood. The classic script kiddie.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complete coincidence, the ISP heard there was a young person who knew something about computer security. Instead of calling the police, they called me for help. At 15, I had my first job as a security consultant. A word of warning: I got lucky. In the early 2000s, law enforcement wasn't equipped to handle these situations. Today, the same curiosity could land you in jail. Seriously — don't do what I did.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Around the same time, I enrolled in MBO to study electronics. People had recommended it — I had no idea what I wanted. I got my CCNA during the program, but I also realized: I don't want to repair fridges. I don't want high-voltage equipment. I wanted software. I wanted science. Here's the thing: I was a terrible student. My marks were bad. But once I found computing — something I actually cared about — everything changed. Between 15 and 18, I went from one of the worst performers to someone who genuinely wanted to excel.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did my Bachelor's in Software Engineering at the Hogeschool van Amsterdam. Going from MBO to HBO was a real transition — especially the math. Teachers at the Hogeschool helped me bridge that gap. This is another example of people investing in you — if you show willingness to learn, people help.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I've been using Python since my first job at that ISP. It's been my 30-year companion. I named my company Pythonic! I got lucky that Python became so popular. I've used it for everything: websites, scientific computing, art projects, machine learning. That pattern — prototype in Python, optimize later — has served me ever since. I've witnessed the Python 2 to 3 transition, which was a nightmare in science. And now the modern tooling renaissance with uv and ruff.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my Master's thesis at the University of Amsterdam, I built 'Sonic Gesture' — a computer vision system that translated hand movements into MIDI music. I prototyped it in Python, then rewrote it in C++ when I needed real-time video performance. Fun fact: one of my professors was the creator of MonetDB, a database system I later worked on as a contractor, and which inspired DuckDB.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and open source were my great equalizers. My first contributions were to Debian — packaging software, submitting bug reports. This was before GitHub even existed. Contributing to projects taught me more than any course, connected me with maintainers worldwide, and built a portfolio that opened doors. You don't need to write a major feature. Start small.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got lucky with people. My first mentor was the father of my first girlfriend — a geeky chemist who introduced me to science fiction, Rubik's Cubes, and Gödel-Escher-Bach. My parents didn't know this world existed; he opened the door. His brother worked at SARA, the Dutch national supercomputer facility, and arranged my internship there. That introduced me to scientific computing. From there I met people at SURFnet who later became clients. Each person led to the next. You can't plan this. But you can put yourself in positions where it might happen.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record store I mentioned? MP3s and online copying killed it. Napster, Limewire, torrents — the music industry was in freefall. My parents lost their business. This was personal. Keep this in mind, because the story comes full circle.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moved to South Africa for a PhD at Rhodes University, working on the Square Kilometre Array — one of the most ambitious scientific projects on Earth. The world's largest radio telescope. Radio astronomy combined with computer science. The data challenges are enormous — we're talking petabytes of data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came to South Africa for science, and found something unexpected: love. I met my wife, a Namibian. We've been coming to Namibia regularly ever since, spending every Christmas with family. Now we're making it official — my wife has taken a role at Hyphen, working on green hydrogen, and we're moving here with our child. Namibia is becoming home.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spent over 10 years as a freelance consultant, working for organizations like ASTRON, SARAO, SETI, and SURFnet. Radio astronomy, machine learning for electricity grids, signal processing. During my consulting years, I made the mistake of chasing money. It made me unhappy. The best career decisions I made were about curiosity, not income.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about two years, I worked four days a week for clients and one or two days on my PhD. That's a six-day workweek. It was exhausting. I finished just before COVID hit — I'm not sure I could have kept that pace through a pandemic. My advice: if you're considering part-time education while working, be realistic about the cost. It's possible, but it will consume your life for a while. Make sure the goal is worth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Spotify launched in the Netherlands in 2010, I thought: that's my dream job. I'm a music lover, a Python developer, and here was a company that was changing how the world listens to music. Twelve years later, I got it. I'm now living my teenage dream — and it pays well too. But the money came from following interesting work,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record store? MP3s killed it. But Spotify saved music by creating a revenue model for artists. Streaming replaced piracy. And now I work at the company that made it happen. My parents lost their livelihood to digital disruption, and I ended up at the company that rebuilt the industry. Life has a sense of humor.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era of manual programming is changing. At Spotify, I no longer type code — I talk to Claude using voice recognition. This very talk, these very slides — created entirely through conversation with AI. These tools have changed everything. I can solve problems I never thought I could tackle, work orders of magnitude faster, and build things that would have taken weeks in days.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just the last couple of months, I've built all of these — entirely with Claude. python-snap7 for industrial PLC communication, ableton-claude to control Ableton Live with AI, spectrageist for real-time audio visualization, geistwave — an experimental music LLM trained on my personal library, charcoaloptimizer for 3D packing, and this CV and talk itself. None of these would have existed without AI assistance.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 that's my story. Now let me share some advice. These are the things I wish someone had told me when I was starting out. Some of it I learned the hard way.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journey wasn't planned. I never had a five-year career strategy. I just followed what looked cool — security, then software engineering, then AI, then radio astronomy. Each pivot happened because something interesting appeared. When I chased money during my consulting years, I was miserable. When I followed curiosity, the money eventually came anyway.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nuance about AI: you still need to understand programming. AI assistants amplify your skills — they don't replace the need to learn. Get your hands dirty first, then use these tools to accelerate. Everyone has access to AI now — that's the baseline. What differentiates you is your understanding of fundamentals. Your taste, your judgment, your ability to ask the right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source was my great equalizer. You don't need permission to contribute. Pick a project you use and love. Fix a bug. Improve the docs. Package something. It teaches you real-world collaboration, code review, and how actual software is built and maintained. And it's your public portfolio — way more valuable than a certificate.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talk about Silicon Valley dreams. Let me make the practical case for building a tech career from Namibia. You're in almost the same timezone as Europe — no midnight meetings. Everyone speaks English — European companies are actively looking for English-speaking developers. Cost of living is lower. Internet is getting faster. Remote work isn't a fantasy — I'm literally doing it. The network builds itself if you stay curious, contribute to open source, and keep showing up.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don't want to sugarcoat it. This is a competitive field, and it's getting more competitive with AI. Don't coast. Stay curious. Keep learning. AI tools are the new baseline — everyone has them. What matters is what you build on top of that baseline. The people who succeed are the ones who keep pushing when others stop.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 was young, I thought I was the smartest kid in the room. The more I learned, the more I realized how little I knew. Working with brilliant minds at the SKA, at research institutions, at Spotify — imposter syndrome didn't fade with experience. It got worse. Here's what I've learned: this is normal. The Dunning-Kruger effect is real. If you feel like a fraud sometimes, welcome to the club. We all feel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wrap up the advice section. You don't need to be a genius. You don't need expensive bootcamps. What you need is persistence, curiosity, and the willingness to fail publicly. Finding the right path changes everything — I was a terrible student until I found computing. Not knowing what you want is normal. Being a bad student doesn't define you. What defines you is what you do once you find the thing that lights you 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so much for listening. I'm happy to take any questions. You can find me on GitHub, or reach out by email. I'm around for the rest of the conference — come say hi!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914400" y="1828800"/>
            <a:ext cx="7315200" cy="1371600"/>
          </a:xfrm>
          <a:prstGeom prst="rect">
            <a:avLst/>
          </a:prstGeom>
          <a:noFill/>
        </p:spPr>
        <p:txBody>
          <a:bodyPr wrap="square">
            <a:spAutoFit/>
          </a:bodyPr>
          <a:lstStyle/>
          <a:p>
            <a:pPr algn="ctr">
              <a:defRPr sz="4000" b="1">
                <a:solidFill>
                  <a:srgbClr val="1DB954"/>
                </a:solidFill>
              </a:defRPr>
            </a:pPr>
            <a:r>
              <a:t>From Script Kiddie to Spotify</a:t>
            </a:r>
          </a:p>
        </p:txBody>
      </p:sp>
      <p:sp>
        <p:nvSpPr>
          <p:cNvPr id="3" name="TextBox 2"/>
          <p:cNvSpPr txBox="1"/>
          <p:nvPr/>
        </p:nvSpPr>
        <p:spPr>
          <a:xfrm>
            <a:off x="914400" y="3291840"/>
            <a:ext cx="7315200" cy="1371600"/>
          </a:xfrm>
          <a:prstGeom prst="rect">
            <a:avLst/>
          </a:prstGeom>
          <a:noFill/>
        </p:spPr>
        <p:txBody>
          <a:bodyPr wrap="square">
            <a:spAutoFit/>
          </a:bodyPr>
          <a:lstStyle/>
          <a:p>
            <a:pPr algn="ctr">
              <a:defRPr sz="2200">
                <a:solidFill>
                  <a:srgbClr val="B3B3B3"/>
                </a:solidFill>
              </a:defRPr>
            </a:pPr>
            <a:r>
              <a:t>A 30-Year Journey</a:t>
            </a:r>
            <a:br/>
            <a:br/>
            <a:r>
              <a:t>Gijs Molenaar</a:t>
            </a:r>
            <a:br/>
            <a:r>
              <a:t>PyCon Namibia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The Record Store</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My parents owned a record store in the Netherlands</a:t>
            </a:r>
          </a:p>
          <a:p>
            <a:pPr>
              <a:spcBef>
                <a:spcPts val="1200"/>
              </a:spcBef>
              <a:defRPr sz="2200">
                <a:solidFill>
                  <a:srgbClr val="FFFFFF"/>
                </a:solidFill>
              </a:defRPr>
            </a:pPr>
            <a:r>
              <a:t>Music was everywhere growing up</a:t>
            </a:r>
          </a:p>
          <a:p>
            <a:pPr>
              <a:spcBef>
                <a:spcPts val="1200"/>
              </a:spcBef>
              <a:defRPr sz="2200">
                <a:solidFill>
                  <a:srgbClr val="FFFFFF"/>
                </a:solidFill>
              </a:defRPr>
            </a:pPr>
            <a:r>
              <a:t>Vinyl, CDs, cassettes — the physical music era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The Curious Kid</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Age 14, volunteering at a local TV station</a:t>
            </a:r>
          </a:p>
          <a:p>
            <a:pPr>
              <a:spcBef>
                <a:spcPts val="1200"/>
              </a:spcBef>
              <a:defRPr sz="2200">
                <a:solidFill>
                  <a:srgbClr val="FFFFFF"/>
                </a:solidFill>
              </a:defRPr>
            </a:pPr>
            <a:r>
              <a:t>Discovered the Windows NT 'ping of death'</a:t>
            </a:r>
          </a:p>
          <a:p>
            <a:pPr>
              <a:spcBef>
                <a:spcPts val="1200"/>
              </a:spcBef>
              <a:defRPr sz="2200">
                <a:solidFill>
                  <a:srgbClr val="FFFFFF"/>
                </a:solidFill>
              </a:defRPr>
            </a:pPr>
            <a:r>
              <a:t>Just a kid playing with scripts I barely understood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First Job at 15</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The ISP heard about 'the kid who knows security'</a:t>
            </a:r>
          </a:p>
          <a:p>
            <a:pPr>
              <a:spcBef>
                <a:spcPts val="1200"/>
              </a:spcBef>
              <a:defRPr sz="2200">
                <a:solidFill>
                  <a:srgbClr val="FFFFFF"/>
                </a:solidFill>
              </a:defRPr>
            </a:pPr>
            <a:r>
              <a:t>Instead of calling the police — they called me</a:t>
            </a:r>
          </a:p>
          <a:p>
            <a:pPr>
              <a:spcBef>
                <a:spcPts val="1200"/>
              </a:spcBef>
              <a:defRPr sz="2200">
                <a:solidFill>
                  <a:srgbClr val="FFFFFF"/>
                </a:solidFill>
              </a:defRPr>
            </a:pPr>
            <a:r>
              <a:t>Security consultant at 15 years old</a:t>
            </a:r>
          </a:p>
          <a:p>
            <a:pPr>
              <a:spcBef>
                <a:spcPts val="1200"/>
              </a:spcBef>
              <a:defRPr sz="2200">
                <a:solidFill>
                  <a:srgbClr val="FFFFFF"/>
                </a:solidFill>
              </a:defRPr>
            </a:pPr>
            <a:r>
              <a:t>⚠️ Don't try this today. I got lucky.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Finding My Path</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MBO in electronics — discovered I didn't want to repair fridges</a:t>
            </a:r>
          </a:p>
          <a:p>
            <a:pPr>
              <a:spcBef>
                <a:spcPts val="1200"/>
              </a:spcBef>
              <a:defRPr sz="2200">
                <a:solidFill>
                  <a:srgbClr val="FFFFFF"/>
                </a:solidFill>
              </a:defRPr>
            </a:pPr>
            <a:r>
              <a:t>Got my Cisco CCNA certification</a:t>
            </a:r>
          </a:p>
          <a:p>
            <a:pPr>
              <a:spcBef>
                <a:spcPts val="1200"/>
              </a:spcBef>
              <a:defRPr sz="2200">
                <a:solidFill>
                  <a:srgbClr val="FFFFFF"/>
                </a:solidFill>
              </a:defRPr>
            </a:pPr>
            <a:r>
              <a:t>Terrible student → motivated once I found computing</a:t>
            </a:r>
          </a:p>
          <a:p>
            <a:pPr>
              <a:spcBef>
                <a:spcPts val="1200"/>
              </a:spcBef>
              <a:defRPr sz="2200">
                <a:solidFill>
                  <a:srgbClr val="FFFFFF"/>
                </a:solidFill>
              </a:defRPr>
            </a:pPr>
            <a:r>
              <a:t>Not knowing what you want is normal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Software Engineering</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Bachelor's at Hogeschool van Amsterdam</a:t>
            </a:r>
          </a:p>
          <a:p>
            <a:pPr>
              <a:spcBef>
                <a:spcPts val="1200"/>
              </a:spcBef>
              <a:defRPr sz="2200">
                <a:solidFill>
                  <a:srgbClr val="FFFFFF"/>
                </a:solidFill>
              </a:defRPr>
            </a:pPr>
            <a:r>
              <a:t>Bridging the gap from vocational to higher education</a:t>
            </a:r>
          </a:p>
          <a:p>
            <a:pPr>
              <a:spcBef>
                <a:spcPts val="1200"/>
              </a:spcBef>
              <a:defRPr sz="2200">
                <a:solidFill>
                  <a:srgbClr val="FFFFFF"/>
                </a:solidFill>
              </a:defRPr>
            </a:pPr>
            <a:r>
              <a:t>Teachers helped me fill the math gaps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Python: Love at First Sight</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Using Python since that first ISP job — nearly 30 years</a:t>
            </a:r>
          </a:p>
          <a:p>
            <a:pPr>
              <a:spcBef>
                <a:spcPts val="1200"/>
              </a:spcBef>
              <a:defRPr sz="2200">
                <a:solidFill>
                  <a:srgbClr val="FFFFFF"/>
                </a:solidFill>
              </a:defRPr>
            </a:pPr>
            <a:r>
              <a:t>Named my company 'Pythonic'</a:t>
            </a:r>
          </a:p>
          <a:p>
            <a:pPr>
              <a:spcBef>
                <a:spcPts val="1200"/>
              </a:spcBef>
              <a:defRPr sz="2200">
                <a:solidFill>
                  <a:srgbClr val="FFFFFF"/>
                </a:solidFill>
              </a:defRPr>
            </a:pPr>
            <a:r>
              <a:t>Prototype in Python, optimize later</a:t>
            </a:r>
          </a:p>
          <a:p>
            <a:pPr>
              <a:spcBef>
                <a:spcPts val="1200"/>
              </a:spcBef>
              <a:defRPr sz="2200">
                <a:solidFill>
                  <a:srgbClr val="FFFFFF"/>
                </a:solidFill>
              </a:defRPr>
            </a:pPr>
            <a:r>
              <a:t>Python 2→3 transition, wheels, uv, ruff — I've seen it 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Master's in Artificial Intelligence</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University of Amsterdam</a:t>
            </a:r>
          </a:p>
          <a:p>
            <a:pPr>
              <a:spcBef>
                <a:spcPts val="1200"/>
              </a:spcBef>
              <a:defRPr sz="2200">
                <a:solidFill>
                  <a:srgbClr val="FFFFFF"/>
                </a:solidFill>
              </a:defRPr>
            </a:pPr>
            <a:r>
              <a:t>Sonic Gesture: hand movements → MIDI music</a:t>
            </a:r>
          </a:p>
          <a:p>
            <a:pPr>
              <a:spcBef>
                <a:spcPts val="1200"/>
              </a:spcBef>
              <a:defRPr sz="2200">
                <a:solidFill>
                  <a:srgbClr val="FFFFFF"/>
                </a:solidFill>
              </a:defRPr>
            </a:pPr>
            <a:r>
              <a:t>Prototyped in Python, rewrote in C++ for real-time</a:t>
            </a:r>
          </a:p>
          <a:p>
            <a:pPr>
              <a:spcBef>
                <a:spcPts val="1200"/>
              </a:spcBef>
              <a:defRPr sz="2200">
                <a:solidFill>
                  <a:srgbClr val="FFFFFF"/>
                </a:solidFill>
              </a:defRPr>
            </a:pPr>
            <a:r>
              <a:t>[Demo clip placeholder]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The Power of Open Source</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First contributions to Debian — before GitHub existed</a:t>
            </a:r>
          </a:p>
          <a:p>
            <a:pPr>
              <a:spcBef>
                <a:spcPts val="1200"/>
              </a:spcBef>
              <a:defRPr sz="2200">
                <a:solidFill>
                  <a:srgbClr val="FFFFFF"/>
                </a:solidFill>
              </a:defRPr>
            </a:pPr>
            <a:r>
              <a:t>Fix a bug, improve docs, package something</a:t>
            </a:r>
          </a:p>
          <a:p>
            <a:pPr>
              <a:spcBef>
                <a:spcPts val="1200"/>
              </a:spcBef>
              <a:defRPr sz="2200">
                <a:solidFill>
                  <a:srgbClr val="FFFFFF"/>
                </a:solidFill>
              </a:defRPr>
            </a:pPr>
            <a:r>
              <a:t>Taught me more than any course</a:t>
            </a:r>
          </a:p>
          <a:p>
            <a:pPr>
              <a:spcBef>
                <a:spcPts val="1200"/>
              </a:spcBef>
              <a:defRPr sz="2200">
                <a:solidFill>
                  <a:srgbClr val="FFFFFF"/>
                </a:solidFill>
              </a:defRPr>
            </a:pPr>
            <a:r>
              <a:t>Built a portfolio that opened doors</a:t>
            </a:r>
          </a:p>
          <a:p>
            <a:pPr>
              <a:spcBef>
                <a:spcPts val="1200"/>
              </a:spcBef>
              <a:defRPr sz="2200">
                <a:solidFill>
                  <a:srgbClr val="FFFFFF"/>
                </a:solidFill>
              </a:defRPr>
            </a:pPr>
            <a:r>
              <a:t>The open source community remembers contributors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The Power of Mentors</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Girlfriend's father: science fiction, Rubik's Cubes, Gödel-Escher-Bach</a:t>
            </a:r>
          </a:p>
          <a:p>
            <a:pPr>
              <a:spcBef>
                <a:spcPts val="1200"/>
              </a:spcBef>
              <a:defRPr sz="2200">
                <a:solidFill>
                  <a:srgbClr val="FFFFFF"/>
                </a:solidFill>
              </a:defRPr>
            </a:pPr>
            <a:r>
              <a:t>His brother at SARA → internship → scientific computing</a:t>
            </a:r>
          </a:p>
          <a:p>
            <a:pPr>
              <a:spcBef>
                <a:spcPts val="1200"/>
              </a:spcBef>
              <a:defRPr sz="2200">
                <a:solidFill>
                  <a:srgbClr val="FFFFFF"/>
                </a:solidFill>
              </a:defRPr>
            </a:pPr>
            <a:r>
              <a:t>Teachers who helped bridge the math gap</a:t>
            </a:r>
          </a:p>
          <a:p>
            <a:pPr>
              <a:spcBef>
                <a:spcPts val="1200"/>
              </a:spcBef>
              <a:defRPr sz="2200">
                <a:solidFill>
                  <a:srgbClr val="FFFFFF"/>
                </a:solidFill>
              </a:defRPr>
            </a:pPr>
            <a:r>
              <a:t>Each person led to the next — you can't plan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The Record Store Dies</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MP3s and online piracy killed the record store</a:t>
            </a:r>
          </a:p>
          <a:p>
            <a:pPr>
              <a:spcBef>
                <a:spcPts val="1200"/>
              </a:spcBef>
              <a:defRPr sz="2200">
                <a:solidFill>
                  <a:srgbClr val="FFFFFF"/>
                </a:solidFill>
              </a:defRPr>
            </a:pPr>
            <a:r>
              <a:t>The music industry in crisis</a:t>
            </a:r>
          </a:p>
          <a:p>
            <a:pPr>
              <a:spcBef>
                <a:spcPts val="1200"/>
              </a:spcBef>
              <a:defRPr sz="2200">
                <a:solidFill>
                  <a:srgbClr val="FFFFFF"/>
                </a:solidFill>
              </a:defRPr>
            </a:pPr>
            <a:r>
              <a:t>My parents lost their livelihood</a:t>
            </a:r>
          </a:p>
          <a:p>
            <a:pPr>
              <a:spcBef>
                <a:spcPts val="1200"/>
              </a:spcBef>
              <a:defRPr sz="2200">
                <a:solidFill>
                  <a:srgbClr val="FFFFFF"/>
                </a:solidFill>
              </a:defRPr>
            </a:pPr>
            <a:r>
              <a:t>Remember this — the story comes 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PhD in South Africa</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Rhodes University, Makhanda</a:t>
            </a:r>
          </a:p>
          <a:p>
            <a:pPr>
              <a:spcBef>
                <a:spcPts val="1200"/>
              </a:spcBef>
              <a:defRPr sz="2200">
                <a:solidFill>
                  <a:srgbClr val="FFFFFF"/>
                </a:solidFill>
              </a:defRPr>
            </a:pPr>
            <a:r>
              <a:t>The Square Kilometre Array — the world's largest radio telescope</a:t>
            </a:r>
          </a:p>
          <a:p>
            <a:pPr>
              <a:spcBef>
                <a:spcPts val="1200"/>
              </a:spcBef>
              <a:defRPr sz="2200">
                <a:solidFill>
                  <a:srgbClr val="FFFFFF"/>
                </a:solidFill>
              </a:defRPr>
            </a:pPr>
            <a:r>
              <a:t>Radio astronomy meets computer science</a:t>
            </a:r>
          </a:p>
          <a:p>
            <a:pPr>
              <a:spcBef>
                <a:spcPts val="1200"/>
              </a:spcBef>
              <a:defRPr sz="2200">
                <a:solidFill>
                  <a:srgbClr val="FFFFFF"/>
                </a:solidFill>
              </a:defRPr>
            </a:pPr>
            <a:r>
              <a:t>Working on problems at an incredible scale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Meeting My Wife</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Came to South Africa for science</a:t>
            </a:r>
          </a:p>
          <a:p>
            <a:pPr>
              <a:spcBef>
                <a:spcPts val="1200"/>
              </a:spcBef>
              <a:defRPr sz="2200">
                <a:solidFill>
                  <a:srgbClr val="FFFFFF"/>
                </a:solidFill>
              </a:defRPr>
            </a:pPr>
            <a:r>
              <a:t>Found love — met a Namibian</a:t>
            </a:r>
          </a:p>
          <a:p>
            <a:pPr>
              <a:spcBef>
                <a:spcPts val="1200"/>
              </a:spcBef>
              <a:defRPr sz="2200">
                <a:solidFill>
                  <a:srgbClr val="FFFFFF"/>
                </a:solidFill>
              </a:defRPr>
            </a:pPr>
            <a:r>
              <a:t>Now making Namibia home</a:t>
            </a:r>
          </a:p>
          <a:p>
            <a:pPr>
              <a:spcBef>
                <a:spcPts val="1200"/>
              </a:spcBef>
              <a:defRPr sz="2200">
                <a:solidFill>
                  <a:srgbClr val="FFFFFF"/>
                </a:solidFill>
              </a:defRPr>
            </a:pPr>
            <a:r>
              <a:t>She works at Hyphen on green hydrogen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The Freelance Years</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10+ years consulting: ASTRON, SARAO, SETI, SURFnet</a:t>
            </a:r>
          </a:p>
          <a:p>
            <a:pPr>
              <a:spcBef>
                <a:spcPts val="1200"/>
              </a:spcBef>
              <a:defRPr sz="2200">
                <a:solidFill>
                  <a:srgbClr val="FFFFFF"/>
                </a:solidFill>
              </a:defRPr>
            </a:pPr>
            <a:r>
              <a:t>Radio astronomy, ML for energy grids, signal processing</a:t>
            </a:r>
          </a:p>
          <a:p>
            <a:pPr>
              <a:spcBef>
                <a:spcPts val="1200"/>
              </a:spcBef>
              <a:defRPr sz="2200">
                <a:solidFill>
                  <a:srgbClr val="FFFFFF"/>
                </a:solidFill>
              </a:defRPr>
            </a:pPr>
            <a:r>
              <a:t>Chasing money made me unhappy</a:t>
            </a:r>
          </a:p>
          <a:p>
            <a:pPr>
              <a:spcBef>
                <a:spcPts val="1200"/>
              </a:spcBef>
              <a:defRPr sz="2200">
                <a:solidFill>
                  <a:srgbClr val="FFFFFF"/>
                </a:solidFill>
              </a:defRPr>
            </a:pPr>
            <a:r>
              <a:t>Following interesting made me fulfilled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PhD + Freelancing</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4 days client work + 1-2 days PhD = 6-day weeks</a:t>
            </a:r>
          </a:p>
          <a:p>
            <a:pPr>
              <a:spcBef>
                <a:spcPts val="1200"/>
              </a:spcBef>
              <a:defRPr sz="2200">
                <a:solidFill>
                  <a:srgbClr val="FFFFFF"/>
                </a:solidFill>
              </a:defRPr>
            </a:pPr>
            <a:r>
              <a:t>Exhausting but worth it</a:t>
            </a:r>
          </a:p>
          <a:p>
            <a:pPr>
              <a:spcBef>
                <a:spcPts val="1200"/>
              </a:spcBef>
              <a:defRPr sz="2200">
                <a:solidFill>
                  <a:srgbClr val="FFFFFF"/>
                </a:solidFill>
              </a:defRPr>
            </a:pPr>
            <a:r>
              <a:t>Finished just before COVID hit</a:t>
            </a:r>
          </a:p>
          <a:p>
            <a:pPr>
              <a:spcBef>
                <a:spcPts val="1200"/>
              </a:spcBef>
              <a:defRPr sz="2200">
                <a:solidFill>
                  <a:srgbClr val="FFFFFF"/>
                </a:solidFill>
              </a:defRPr>
            </a:pPr>
            <a:r>
              <a:t>Be realistic about the cost of part-time education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The Teenage Dream</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Spotify launched in the Netherlands in 2010</a:t>
            </a:r>
          </a:p>
          <a:p>
            <a:pPr>
              <a:spcBef>
                <a:spcPts val="1200"/>
              </a:spcBef>
              <a:defRPr sz="2200">
                <a:solidFill>
                  <a:srgbClr val="FFFFFF"/>
                </a:solidFill>
              </a:defRPr>
            </a:pPr>
            <a:r>
              <a:t>"That's my dream job"</a:t>
            </a:r>
          </a:p>
          <a:p>
            <a:pPr>
              <a:spcBef>
                <a:spcPts val="1200"/>
              </a:spcBef>
              <a:defRPr sz="2200">
                <a:solidFill>
                  <a:srgbClr val="FFFFFF"/>
                </a:solidFill>
              </a:defRPr>
            </a:pPr>
            <a:r>
              <a:t>Twelve years later, I got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Full Circle: Music Saved</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Parents' record store was killed by MP3s</a:t>
            </a:r>
          </a:p>
          <a:p>
            <a:pPr>
              <a:spcBef>
                <a:spcPts val="1200"/>
              </a:spcBef>
              <a:defRPr sz="2200">
                <a:solidFill>
                  <a:srgbClr val="FFFFFF"/>
                </a:solidFill>
              </a:defRPr>
            </a:pPr>
            <a:r>
              <a:t>Spotify saved music — a new revenue model for artists</a:t>
            </a:r>
          </a:p>
          <a:p>
            <a:pPr>
              <a:spcBef>
                <a:spcPts val="1200"/>
              </a:spcBef>
              <a:defRPr sz="2200">
                <a:solidFill>
                  <a:srgbClr val="FFFFFF"/>
                </a:solidFill>
              </a:defRPr>
            </a:pPr>
            <a:r>
              <a:t>Now I work there</a:t>
            </a:r>
          </a:p>
          <a:p>
            <a:pPr>
              <a:spcBef>
                <a:spcPts val="1200"/>
              </a:spcBef>
              <a:defRPr sz="2200">
                <a:solidFill>
                  <a:srgbClr val="FFFFFF"/>
                </a:solidFill>
              </a:defRPr>
            </a:pPr>
            <a:r>
              <a:t>Life has a sense of humor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AI Changed Everything</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I no longer type code — I talk to Claude with voice</a:t>
            </a:r>
          </a:p>
          <a:p>
            <a:pPr>
              <a:spcBef>
                <a:spcPts val="1200"/>
              </a:spcBef>
              <a:defRPr sz="2200">
                <a:solidFill>
                  <a:srgbClr val="FFFFFF"/>
                </a:solidFill>
              </a:defRPr>
            </a:pPr>
            <a:r>
              <a:t>This very talk was created with AI</a:t>
            </a:r>
          </a:p>
          <a:p>
            <a:pPr>
              <a:spcBef>
                <a:spcPts val="1200"/>
              </a:spcBef>
              <a:defRPr sz="2200">
                <a:solidFill>
                  <a:srgbClr val="FFFFFF"/>
                </a:solidFill>
              </a:defRPr>
            </a:pPr>
            <a:r>
              <a:t>Orders of magnitude faster</a:t>
            </a:r>
          </a:p>
          <a:p>
            <a:pPr>
              <a:spcBef>
                <a:spcPts val="1200"/>
              </a:spcBef>
              <a:defRPr sz="2200">
                <a:solidFill>
                  <a:srgbClr val="FFFFFF"/>
                </a:solidFill>
              </a:defRPr>
            </a:pPr>
            <a:r>
              <a:t>Solving problems I never thought I could tackle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What I Built with AI</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python-snap7 — industrial PLC communication</a:t>
            </a:r>
          </a:p>
          <a:p>
            <a:pPr>
              <a:spcBef>
                <a:spcPts val="1200"/>
              </a:spcBef>
              <a:defRPr sz="2200">
                <a:solidFill>
                  <a:srgbClr val="FFFFFF"/>
                </a:solidFill>
              </a:defRPr>
            </a:pPr>
            <a:r>
              <a:t>ableton-claude — control Ableton Live with AI</a:t>
            </a:r>
          </a:p>
          <a:p>
            <a:pPr>
              <a:spcBef>
                <a:spcPts val="1200"/>
              </a:spcBef>
              <a:defRPr sz="2200">
                <a:solidFill>
                  <a:srgbClr val="FFFFFF"/>
                </a:solidFill>
              </a:defRPr>
            </a:pPr>
            <a:r>
              <a:t>spectrageist — real-time audio feature extraction</a:t>
            </a:r>
          </a:p>
          <a:p>
            <a:pPr>
              <a:spcBef>
                <a:spcPts val="1200"/>
              </a:spcBef>
              <a:defRPr sz="2200">
                <a:solidFill>
                  <a:srgbClr val="FFFFFF"/>
                </a:solidFill>
              </a:defRPr>
            </a:pPr>
            <a:r>
              <a:t>geistwave — experimental music LLM</a:t>
            </a:r>
          </a:p>
          <a:p>
            <a:pPr>
              <a:spcBef>
                <a:spcPts val="1200"/>
              </a:spcBef>
              <a:defRPr sz="2200">
                <a:solidFill>
                  <a:srgbClr val="FFFFFF"/>
                </a:solidFill>
              </a:defRPr>
            </a:pPr>
            <a:r>
              <a:t>charcoaloptimizer — AI-powered 3D packing optimization</a:t>
            </a:r>
          </a:p>
          <a:p>
            <a:pPr>
              <a:spcBef>
                <a:spcPts val="1200"/>
              </a:spcBef>
              <a:defRPr sz="2200">
                <a:solidFill>
                  <a:srgbClr val="FFFFFF"/>
                </a:solidFill>
              </a:defRPr>
            </a:pPr>
            <a:r>
              <a:t>This CV and talk — built with RenderCV + Claude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spAutoFit/>
          </a:bodyPr>
          <a:lstStyle/>
          <a:p>
            <a:pPr algn="ctr">
              <a:defRPr sz="3800" b="1">
                <a:solidFill>
                  <a:srgbClr val="1DB954"/>
                </a:solidFill>
              </a:defRPr>
            </a:pPr>
            <a:r>
              <a:t>Advice for Young Engineers</a:t>
            </a:r>
          </a:p>
        </p:txBody>
      </p:sp>
      <p:sp>
        <p:nvSpPr>
          <p:cNvPr id="3" name="TextBox 2"/>
          <p:cNvSpPr txBox="1"/>
          <p:nvPr/>
        </p:nvSpPr>
        <p:spPr>
          <a:xfrm>
            <a:off x="914400" y="3474720"/>
            <a:ext cx="7315200" cy="914400"/>
          </a:xfrm>
          <a:prstGeom prst="rect">
            <a:avLst/>
          </a:prstGeom>
          <a:noFill/>
        </p:spPr>
        <p:txBody>
          <a:bodyPr wrap="square">
            <a:spAutoFit/>
          </a:bodyPr>
          <a:lstStyle/>
          <a:p>
            <a:pPr algn="ctr">
              <a:defRPr sz="2200">
                <a:solidFill>
                  <a:srgbClr val="B3B3B3"/>
                </a:solidFill>
              </a:defRPr>
            </a:pPr>
            <a:r>
              <a:t>What I wish someone had told 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Follow Interesting, Not Money</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The best career decisions were about curiosity</a:t>
            </a:r>
          </a:p>
          <a:p>
            <a:pPr>
              <a:spcBef>
                <a:spcPts val="1200"/>
              </a:spcBef>
              <a:defRPr sz="2200">
                <a:solidFill>
                  <a:srgbClr val="FFFFFF"/>
                </a:solidFill>
              </a:defRPr>
            </a:pPr>
            <a:r>
              <a:t>Chasing money made me unhappy</a:t>
            </a:r>
          </a:p>
          <a:p>
            <a:pPr>
              <a:spcBef>
                <a:spcPts val="1200"/>
              </a:spcBef>
              <a:defRPr sz="2200">
                <a:solidFill>
                  <a:srgbClr val="FFFFFF"/>
                </a:solidFill>
              </a:defRPr>
            </a:pPr>
            <a:r>
              <a:t>Money follows interesting work — not the other way around</a:t>
            </a:r>
          </a:p>
          <a:p>
            <a:pPr>
              <a:spcBef>
                <a:spcPts val="1200"/>
              </a:spcBef>
              <a:defRPr sz="2200">
                <a:solidFill>
                  <a:srgbClr val="FFFFFF"/>
                </a:solidFill>
              </a:defRPr>
            </a:pPr>
            <a:r>
              <a:t>I never had a five-year plan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Build Real Understanding</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Don't let AI do everything for you</a:t>
            </a:r>
          </a:p>
          <a:p>
            <a:pPr>
              <a:spcBef>
                <a:spcPts val="1200"/>
              </a:spcBef>
              <a:defRPr sz="2200">
                <a:solidFill>
                  <a:srgbClr val="FFFFFF"/>
                </a:solidFill>
              </a:defRPr>
            </a:pPr>
            <a:r>
              <a:t>You need to understand how software works</a:t>
            </a:r>
          </a:p>
          <a:p>
            <a:pPr>
              <a:spcBef>
                <a:spcPts val="1200"/>
              </a:spcBef>
              <a:defRPr sz="2200">
                <a:solidFill>
                  <a:srgbClr val="FFFFFF"/>
                </a:solidFill>
              </a:defRPr>
            </a:pPr>
            <a:r>
              <a:t>AI amplifies skills — it doesn't replace learning</a:t>
            </a:r>
          </a:p>
          <a:p>
            <a:pPr>
              <a:spcBef>
                <a:spcPts val="1200"/>
              </a:spcBef>
              <a:defRPr sz="2200">
                <a:solidFill>
                  <a:srgbClr val="FFFFFF"/>
                </a:solidFill>
              </a:defRPr>
            </a:pPr>
            <a:r>
              <a:t>Everyone with AI has the same baseline</a:t>
            </a:r>
          </a:p>
          <a:p>
            <a:pPr>
              <a:spcBef>
                <a:spcPts val="1200"/>
              </a:spcBef>
              <a:defRPr sz="2200">
                <a:solidFill>
                  <a:srgbClr val="FFFFFF"/>
                </a:solidFill>
              </a:defRPr>
            </a:pPr>
            <a:r>
              <a:t>Your understanding is your edge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Contribute to Open Source</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Start small — fix bugs, improve docs</a:t>
            </a:r>
          </a:p>
          <a:p>
            <a:pPr>
              <a:spcBef>
                <a:spcPts val="1200"/>
              </a:spcBef>
              <a:defRPr sz="2200">
                <a:solidFill>
                  <a:srgbClr val="FFFFFF"/>
                </a:solidFill>
              </a:defRPr>
            </a:pPr>
            <a:r>
              <a:t>Teaches more than any course</a:t>
            </a:r>
          </a:p>
          <a:p>
            <a:pPr>
              <a:spcBef>
                <a:spcPts val="1200"/>
              </a:spcBef>
              <a:defRPr sz="2200">
                <a:solidFill>
                  <a:srgbClr val="FFFFFF"/>
                </a:solidFill>
              </a:defRPr>
            </a:pPr>
            <a:r>
              <a:t>Builds your portfolio and reputation</a:t>
            </a:r>
          </a:p>
          <a:p>
            <a:pPr>
              <a:spcBef>
                <a:spcPts val="1200"/>
              </a:spcBef>
              <a:defRPr sz="2200">
                <a:solidFill>
                  <a:srgbClr val="FFFFFF"/>
                </a:solidFill>
              </a:defRPr>
            </a:pPr>
            <a:r>
              <a:t>Connects you with developers worldwide</a:t>
            </a:r>
          </a:p>
          <a:p>
            <a:pPr>
              <a:spcBef>
                <a:spcPts val="1200"/>
              </a:spcBef>
              <a:defRPr sz="2200">
                <a:solidFill>
                  <a:srgbClr val="FFFFFF"/>
                </a:solidFill>
              </a:defRPr>
            </a:pPr>
            <a:r>
              <a:t>Start today — pick a project you use and love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The Namibia Advantage</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Same timezone as Europe — no midnight meetings</a:t>
            </a:r>
          </a:p>
          <a:p>
            <a:pPr>
              <a:spcBef>
                <a:spcPts val="1200"/>
              </a:spcBef>
              <a:defRPr sz="2200">
                <a:solidFill>
                  <a:srgbClr val="FFFFFF"/>
                </a:solidFill>
              </a:defRPr>
            </a:pPr>
            <a:r>
              <a:t>English-speaking — EU companies need you</a:t>
            </a:r>
          </a:p>
          <a:p>
            <a:pPr>
              <a:spcBef>
                <a:spcPts val="1200"/>
              </a:spcBef>
              <a:defRPr sz="2200">
                <a:solidFill>
                  <a:srgbClr val="FFFFFF"/>
                </a:solidFill>
              </a:defRPr>
            </a:pPr>
            <a:r>
              <a:t>Lower cost of living than Amsterdam or London</a:t>
            </a:r>
          </a:p>
          <a:p>
            <a:pPr>
              <a:spcBef>
                <a:spcPts val="1200"/>
              </a:spcBef>
              <a:defRPr sz="2200">
                <a:solidFill>
                  <a:srgbClr val="FFFFFF"/>
                </a:solidFill>
              </a:defRPr>
            </a:pPr>
            <a:r>
              <a:t>Remote work is real — I do it from here</a:t>
            </a:r>
          </a:p>
          <a:p>
            <a:pPr>
              <a:spcBef>
                <a:spcPts val="1200"/>
              </a:spcBef>
              <a:defRPr sz="2200">
                <a:solidFill>
                  <a:srgbClr val="FFFFFF"/>
                </a:solidFill>
              </a:defRPr>
            </a:pPr>
            <a:r>
              <a:t>The network builds itself if you stay curious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But: Work Hard</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Competitive field — especially now with AI</a:t>
            </a:r>
          </a:p>
          <a:p>
            <a:pPr>
              <a:spcBef>
                <a:spcPts val="1200"/>
              </a:spcBef>
              <a:defRPr sz="2200">
                <a:solidFill>
                  <a:srgbClr val="FFFFFF"/>
                </a:solidFill>
              </a:defRPr>
            </a:pPr>
            <a:r>
              <a:t>Don't coast</a:t>
            </a:r>
          </a:p>
          <a:p>
            <a:pPr>
              <a:spcBef>
                <a:spcPts val="1200"/>
              </a:spcBef>
              <a:defRPr sz="2200">
                <a:solidFill>
                  <a:srgbClr val="FFFFFF"/>
                </a:solidFill>
              </a:defRPr>
            </a:pPr>
            <a:r>
              <a:t>Stay curious, keep learning</a:t>
            </a:r>
          </a:p>
          <a:p>
            <a:pPr>
              <a:spcBef>
                <a:spcPts val="1200"/>
              </a:spcBef>
              <a:defRPr sz="2200">
                <a:solidFill>
                  <a:srgbClr val="FFFFFF"/>
                </a:solidFill>
              </a:defRPr>
            </a:pPr>
            <a:r>
              <a:t>AI tools are the new baseline — not the finish 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Imposter Syndrome is Normal</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Early confidence = ignorance (Dunning-Kruger)</a:t>
            </a:r>
          </a:p>
          <a:p>
            <a:pPr>
              <a:spcBef>
                <a:spcPts val="1200"/>
              </a:spcBef>
              <a:defRPr sz="2200">
                <a:solidFill>
                  <a:srgbClr val="FFFFFF"/>
                </a:solidFill>
              </a:defRPr>
            </a:pPr>
            <a:r>
              <a:t>Later humility = understanding how much there is to know</a:t>
            </a:r>
          </a:p>
          <a:p>
            <a:pPr>
              <a:spcBef>
                <a:spcPts val="1200"/>
              </a:spcBef>
              <a:defRPr sz="2200">
                <a:solidFill>
                  <a:srgbClr val="FFFFFF"/>
                </a:solidFill>
              </a:defRPr>
            </a:pPr>
            <a:r>
              <a:t>It never goes away — it just changes shape</a:t>
            </a:r>
          </a:p>
          <a:p>
            <a:pPr>
              <a:spcBef>
                <a:spcPts val="1200"/>
              </a:spcBef>
              <a:defRPr sz="2200">
                <a:solidFill>
                  <a:srgbClr val="FFFFFF"/>
                </a:solidFill>
              </a:defRPr>
            </a:pPr>
            <a:r>
              <a:t>If you feel like a fraud sometimes: welcome to the club</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731520" y="457200"/>
            <a:ext cx="7680960" cy="914400"/>
          </a:xfrm>
          <a:prstGeom prst="rect">
            <a:avLst/>
          </a:prstGeom>
          <a:noFill/>
        </p:spPr>
        <p:txBody>
          <a:bodyPr wrap="square">
            <a:spAutoFit/>
          </a:bodyPr>
          <a:lstStyle/>
          <a:p>
            <a:pPr>
              <a:defRPr sz="3200" b="1">
                <a:solidFill>
                  <a:srgbClr val="1DB954"/>
                </a:solidFill>
              </a:defRPr>
            </a:pPr>
            <a:r>
              <a:t>The Realistic Path</a:t>
            </a:r>
          </a:p>
        </p:txBody>
      </p:sp>
      <p:sp>
        <p:nvSpPr>
          <p:cNvPr id="3" name="TextBox 2"/>
          <p:cNvSpPr txBox="1"/>
          <p:nvPr/>
        </p:nvSpPr>
        <p:spPr>
          <a:xfrm>
            <a:off x="731520" y="1554480"/>
            <a:ext cx="7680960" cy="4572000"/>
          </a:xfrm>
          <a:prstGeom prst="rect">
            <a:avLst/>
          </a:prstGeom>
          <a:noFill/>
        </p:spPr>
        <p:txBody>
          <a:bodyPr wrap="square">
            <a:spAutoFit/>
          </a:bodyPr>
          <a:lstStyle/>
          <a:p>
            <a:pPr>
              <a:defRPr sz="2200">
                <a:solidFill>
                  <a:srgbClr val="FFFFFF"/>
                </a:solidFill>
              </a:defRPr>
            </a:pPr>
            <a:r>
              <a:t>No genius required</a:t>
            </a:r>
          </a:p>
          <a:p>
            <a:pPr>
              <a:spcBef>
                <a:spcPts val="1200"/>
              </a:spcBef>
              <a:defRPr sz="2200">
                <a:solidFill>
                  <a:srgbClr val="FFFFFF"/>
                </a:solidFill>
              </a:defRPr>
            </a:pPr>
            <a:r>
              <a:t>No expensive bootcamps needed</a:t>
            </a:r>
          </a:p>
          <a:p>
            <a:pPr>
              <a:spcBef>
                <a:spcPts val="1200"/>
              </a:spcBef>
              <a:defRPr sz="2200">
                <a:solidFill>
                  <a:srgbClr val="FFFFFF"/>
                </a:solidFill>
              </a:defRPr>
            </a:pPr>
            <a:r>
              <a:t>Persistence + curiosity + willingness to fail publicly</a:t>
            </a:r>
          </a:p>
          <a:p>
            <a:pPr>
              <a:spcBef>
                <a:spcPts val="1200"/>
              </a:spcBef>
              <a:defRPr sz="2200">
                <a:solidFill>
                  <a:srgbClr val="FFFFFF"/>
                </a:solidFill>
              </a:defRPr>
            </a:pPr>
            <a:r>
              <a:t>Find the right path — it changes everything</a:t>
            </a:r>
          </a:p>
          <a:p>
            <a:pPr>
              <a:spcBef>
                <a:spcPts val="1200"/>
              </a:spcBef>
              <a:defRPr sz="2200">
                <a:solidFill>
                  <a:srgbClr val="FFFFFF"/>
                </a:solidFill>
              </a:defRPr>
            </a:pPr>
            <a:r>
              <a:t>Being a bad student doesn't define you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914400" y="1371600"/>
            <a:ext cx="7315200" cy="1097280"/>
          </a:xfrm>
          <a:prstGeom prst="rect">
            <a:avLst/>
          </a:prstGeom>
          <a:noFill/>
        </p:spPr>
        <p:txBody>
          <a:bodyPr wrap="square">
            <a:spAutoFit/>
          </a:bodyPr>
          <a:lstStyle/>
          <a:p>
            <a:pPr algn="ctr">
              <a:defRPr sz="3800" b="1">
                <a:solidFill>
                  <a:srgbClr val="1DB954"/>
                </a:solidFill>
              </a:defRPr>
            </a:pPr>
            <a:r>
              <a:t>Thank You!</a:t>
            </a:r>
          </a:p>
        </p:txBody>
      </p:sp>
      <p:sp>
        <p:nvSpPr>
          <p:cNvPr id="3" name="TextBox 2"/>
          <p:cNvSpPr txBox="1"/>
          <p:nvPr/>
        </p:nvSpPr>
        <p:spPr>
          <a:xfrm>
            <a:off x="914400" y="2743200"/>
            <a:ext cx="7315200" cy="3200400"/>
          </a:xfrm>
          <a:prstGeom prst="rect">
            <a:avLst/>
          </a:prstGeom>
          <a:noFill/>
        </p:spPr>
        <p:txBody>
          <a:bodyPr wrap="square">
            <a:spAutoFit/>
          </a:bodyPr>
          <a:lstStyle/>
          <a:p>
            <a:pPr algn="ctr">
              <a:defRPr sz="2000">
                <a:solidFill>
                  <a:srgbClr val="B3B3B3"/>
                </a:solidFill>
              </a:defRPr>
            </a:pPr>
            <a:r>
              <a:t>Gijs Molenaar</a:t>
            </a:r>
          </a:p>
          <a:p>
            <a:pPr algn="ctr">
              <a:spcBef>
                <a:spcPts val="800"/>
              </a:spcBef>
              <a:defRPr sz="2000">
                <a:solidFill>
                  <a:srgbClr val="B3B3B3"/>
                </a:solidFill>
              </a:defRPr>
            </a:pPr>
            <a:r>
              <a:t>Software Engineer @ Spotify</a:t>
            </a:r>
          </a:p>
          <a:p>
            <a:pPr algn="ctr">
              <a:spcBef>
                <a:spcPts val="800"/>
              </a:spcBef>
              <a:defRPr sz="2000">
                <a:solidFill>
                  <a:srgbClr val="B3B3B3"/>
                </a:solidFill>
              </a:defRPr>
            </a:pPr>
          </a:p>
          <a:p>
            <a:pPr algn="ctr">
              <a:spcBef>
                <a:spcPts val="800"/>
              </a:spcBef>
              <a:defRPr sz="2000">
                <a:solidFill>
                  <a:srgbClr val="B3B3B3"/>
                </a:solidFill>
              </a:defRPr>
            </a:pPr>
            <a:r>
              <a:t>github.com/gijzelaerr</a:t>
            </a:r>
          </a:p>
          <a:p>
            <a:pPr algn="ctr">
              <a:spcBef>
                <a:spcPts val="800"/>
              </a:spcBef>
              <a:defRPr sz="2000">
                <a:solidFill>
                  <a:srgbClr val="B3B3B3"/>
                </a:solidFill>
              </a:defRPr>
            </a:pPr>
            <a:r>
              <a:t>gijs@pythonic.nl</a:t>
            </a:r>
          </a:p>
          <a:p>
            <a:pPr algn="ctr">
              <a:spcBef>
                <a:spcPts val="800"/>
              </a:spcBef>
              <a:defRPr sz="2000">
                <a:solidFill>
                  <a:srgbClr val="B3B3B3"/>
                </a:solidFill>
              </a:defRPr>
            </a:pPr>
          </a:p>
          <a:p>
            <a:pPr algn="ctr">
              <a:spcBef>
                <a:spcPts val="800"/>
              </a:spcBef>
              <a:defRPr sz="2000">
                <a:solidFill>
                  <a:srgbClr val="B3B3B3"/>
                </a:solidFill>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